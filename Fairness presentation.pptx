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83311-17B6-4FD3-825A-10DC5B834DC1}" v="10" dt="2026-06-18T14:48:20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460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A627-36CF-BF66-B2B1-52078D508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AA32E-922A-29B9-8AF5-E1130BD47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5CA32-AED9-BFCA-0243-56AB6D437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37F5C-5C83-342C-C841-25E678B2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12B01-539B-0E4A-9A5F-8683E282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8268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3EC0-D6DB-76B9-4EDB-EBB4EBB0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D5BE-FD59-51CC-1E1E-7673A87DC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FCFC1-6698-9FCF-A4D3-AE7DE11F8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118EE-442B-AA6E-B8F9-BFB533DD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D184-0FF5-C0F4-6EEA-8400ED96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3136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2EF5-EFA2-8FA7-C10D-D986F160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99B9C-A475-6CF1-EBFB-E2207766A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88023-B97B-B811-4A6C-CA2D0691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001E-0DA8-AC6E-C2C8-525BA35C5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54615-13C6-CFB4-7DEB-C6767D42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6076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5D7C-5423-74B7-1264-EEF5B98C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004D-B63E-317E-5EB0-F5E4FB6EA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FC405-EB80-05BA-0992-C6462AE27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740AE-3C89-3585-82C8-54F0CFFE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386A8-D9DC-543D-38C3-8B0C27FA0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051D6-C5C7-BA7A-7E5A-247B0913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42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07CC-7E09-3506-C0AB-9D9193CC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4C126-6267-5132-2CE8-863E72EA2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36832-F8CD-8699-9D35-E7A11D98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8E0CA-EF1B-96A5-442B-BC96E4396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496C2-11FD-E6FF-21D4-2BAEA5693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416B3D-92C0-3D7F-8A78-2AA0369B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79BE4C-C26F-A50A-2056-9B6A75DA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806B7-D0A6-5CE3-1D61-F72F2DD4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181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0975-1492-06BF-38FE-FC111B72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7BA22A-6DC2-0A72-5293-B5265B13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58D7E-08CC-07C2-32E5-A8FF54ED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714A3-1962-777A-E1B3-911D0C599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7140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FAAD9-8BC3-8ECD-7A90-8819645ED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1EBE0-1B35-2B83-5710-CC1CE9F8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B0673-D9D2-7177-7C39-CEF47604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0577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0E52-13CA-432E-3821-AEBF163D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EFD3D-AFC7-17CE-3A83-FB444363E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04DC2-B80B-9D18-9A4A-1C1A95049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EC3E6-709B-E63C-81F8-C043904F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66CC0-52B5-7FA7-6641-FA35D7EA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66AAD-6DB4-4BB4-59B1-0F8D88E7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5107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60DD-075F-8FDD-FDB4-7D14904D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C9020-F717-CDC6-59FB-54BC1AC2E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585FE-6488-52F9-FF2A-BCB53A137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F0305-3B51-02EA-4259-01FCB0E3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623DF-A045-E27A-3196-C33D9AC1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B87A4-CDA4-846A-25CC-1B3C450C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308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B5A9-ED73-6913-B7B8-581980C0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632CA-4764-EF2C-2D33-32BB79ADE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5AFFB-782E-97F5-DD1C-D6316223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05221-F912-83AB-7A0A-F911797C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87D34-E4C1-3301-64D2-E5D2C70C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602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B1368-0420-5C63-9C21-2931E297F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FEC64-7E1F-65CF-4CC4-0C72FF9C6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BDBD-1833-3C95-7311-1D829D9F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6C14C-B3E7-2DA1-E53C-AAA0202E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B8025-702B-1D17-4BB6-0CA47B56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0267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30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BF800-DB06-6DE9-A50B-E4314DBC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D3FBE-FA40-2655-9BAB-9DBC0EA39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E653-45AD-6C3D-2978-2EE662CDA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206F3-7BA3-9658-F76A-B8A04FAEF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38927-183D-8022-B7D0-90320E746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7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052060F6-6137-AAFF-ADB6-5FD18BC7AD13}"/>
              </a:ext>
            </a:extLst>
          </p:cNvPr>
          <p:cNvSpPr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Fairness Analysis</a:t>
            </a:r>
            <a:endParaRPr lang="en-US" sz="3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722F1E0-87E3-E589-66F1-D08A612D4503}"/>
              </a:ext>
            </a:extLst>
          </p:cNvPr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UCI Adult Income Dataset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Gender &amp; Race Bias Audit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802C25-0AD3-F45C-3B85-3C07DAF217FB}"/>
              </a:ext>
            </a:extLst>
          </p:cNvPr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Budike Meeraj Kumar   |   GH: GH1040835   |   Module: M515A — Ethical Issues for AI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1194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about?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report checks if a machine learning model is fair.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model predicts whether a person earns more than $50K per year - and we test if it treats everyone equally.</a:t>
            </a:r>
          </a:p>
          <a:p>
            <a:pPr marL="0" indent="0">
              <a:buNone/>
            </a:pPr>
            <a:endParaRPr lang="en-US" sz="1300" dirty="0">
              <a:solidFill>
                <a:srgbClr val="2D3748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fairness constraints were applied during training -this is a bias audit, not a mitigation.</a:t>
            </a:r>
          </a:p>
          <a:p>
            <a:endParaRPr lang="en-US" sz="1400" i="1" dirty="0">
              <a:solidFill>
                <a:srgbClr val="64748B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Focus Areas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UCI Adult Income (32,561 records)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Regression Classifier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Sensitive Attributes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Sex (Male / Female)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Race (5 groups)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Audit for bias in income predictions across demographic groups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32,561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64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30,162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764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missing rows dropped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772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764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Income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764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&gt;$50K or ≤$50K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Income Class Split (Imbalanced)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43200"/>
            <a:ext cx="6391656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88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≤$50K  —  75.9%  (24,720 samples)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83280"/>
            <a:ext cx="2020824" cy="502920"/>
          </a:xfrm>
          <a:prstGeom prst="roundRect">
            <a:avLst>
              <a:gd name="adj" fmla="val 14545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&gt;$50K  —  24.1%  (7,841 samples)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⚠  3:1 class imbalance — the model naturally favours predicting low income.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84632" y="10058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Missing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'?' with blanks. Dropped rows with missing data.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workclass: 1,836  |  occupation: 1,843  |  country: 583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32,561 → 30,162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" y="30175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0449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Sensitive Attributes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sex and race columns separately BEFORE encoding.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used only for fairness analysis — NOT as model input.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65192" y="10058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0332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&amp; Scale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converted to numbers (LabelEncoder).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scaled with StandardScaler (fitted on train only).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from test set.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65192" y="30175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0449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Training: 24,129 rows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Testing: 6,033 rows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Overall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</a:t>
            </a: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81.75%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868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Report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280160"/>
          <a:ext cx="4754880" cy="1207008"/>
        </p:xfrm>
        <a:graphic>
          <a:graphicData uri="http://schemas.openxmlformats.org/drawingml/2006/table">
            <a:tbl>
              <a:tblPr/>
              <a:tblGrid>
                <a:gridCol w="950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≤$50K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&gt;$50K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Key Finding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291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very good at detecting low earners (F1 = 0.89)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misses 55% of people who actually earn &gt;$50K (Recall = 0.45 for the &gt;$50K class).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high False Negative Rate for high-earners is the root cause of the unfairness found in the bias audit.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Analysis: By Sex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Rate Metrics by Gender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5303520" cy="1097280"/>
        </p:xfrm>
        <a:graphic>
          <a:graphicData uri="http://schemas.openxmlformats.org/drawingml/2006/table">
            <a:tbl>
              <a:tblPr/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4"/>
          <p:cNvSpPr/>
          <p:nvPr/>
        </p:nvSpPr>
        <p:spPr>
          <a:xfrm>
            <a:off x="598932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FNR Disparity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89320" y="12801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FNR: </a:t>
            </a: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77.45%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FNR:  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51.30%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+26.15 pp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ratio: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1.51×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" y="25603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Negative Rate — Male vs Female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(51.3%)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0" y="2971800"/>
            <a:ext cx="5212080" cy="32004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2971800"/>
            <a:ext cx="2670048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(77.5%)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0" y="3429000"/>
            <a:ext cx="5212080" cy="32004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0" y="3429000"/>
            <a:ext cx="4041648" cy="32004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Analysis: By Race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Rate Metrics by Racial Group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07008"/>
          <a:ext cx="6858000" cy="21396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Asian-Pac-Islander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Amer-Indian-Eskimo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0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593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Text 5"/>
          <p:cNvSpPr/>
          <p:nvPr/>
        </p:nvSpPr>
        <p:spPr>
          <a:xfrm>
            <a:off x="50292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Amer-Indian-Eskimo has the highest FNR at 83.3%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individuals also severely affected: FNR = 75.0%  (1.38× higher than White)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ratio (Amer-Indian vs White): 1.54×   |   Note: Amer-Indian &amp; Other groups are small — metrics have high uncertainty.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All Groups FAIL Fairness Threshold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8686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under-predicted for high income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223760" y="8686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77.45%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38160" y="9144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99032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8FBFD"/>
          </a:solidFill>
          <a:ln w="12700">
            <a:solidFill>
              <a:srgbClr val="E5E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44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4447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also under-predicted but less severely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23760" y="144475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51.30%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14904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75104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Amer-Indian-Eskimo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02082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FNR — model rarely predicts &gt;$50K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2020824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83.33%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20665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551176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8FBFD"/>
          </a:solidFill>
          <a:ln w="12700">
            <a:solidFill>
              <a:srgbClr val="E5E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96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25968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high earners missed by the model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23760" y="259689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75.00%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26426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127248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D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72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31729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FNR, very small sample (n=38)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23760" y="31729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66.67%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32186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0332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8FBFD"/>
          </a:solidFill>
          <a:ln w="12700">
            <a:solidFill>
              <a:srgbClr val="E5ED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60320" y="37490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FNR among races — but still fails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23760" y="37490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54.20%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138160" y="37947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279392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D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251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Asian-Pac-Islander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560320" y="43251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FPR; FNR comparable to White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223760" y="432511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52.27%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138160" y="43708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7840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78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Causality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only observe correlations in the data. The analysis doesn't prove the model is causing discrimination.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41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Subgroups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like Amer-Indian-Eskimo (n=64) and Other (n=38) are very small. Their FNR estimates are statistically uncertain.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0448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904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Mitigation Applied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bias audit only. No techniques to reduce unfairness (e.g. re-weighting, fairness constraints) were tested.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97840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978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Model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0" y="13898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Logistic Regression was evaluated. Other models might perform differently.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244144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441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Sensitive Attributes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0" y="285292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is treated as binary (Male/Female) and race as fixed groups. Real-world identity is more complex.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486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498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fails the 0.05 FNR fairness threshold.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is not that some groups pass and others fail.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that the degree of failure is unequal.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Women, Black individuals, and Amer-Indian-Eskimo individuals bear a significantly higher cost — they are most likely to be mislabelled as low earners even when they actually earn &gt;$50K.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Apply fairness mitigation techniques (e.g. re-weighting, post-processing) and re-evaluate.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866</Words>
  <Application>Microsoft Office PowerPoint</Application>
  <PresentationFormat>On-screen Show (16:9)</PresentationFormat>
  <Paragraphs>222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Fairness Analysis</dc:title>
  <dc:subject>PptxGenJS Presentation</dc:subject>
  <dc:creator>PptxGenJS</dc:creator>
  <cp:lastModifiedBy>Meeraj Kumar</cp:lastModifiedBy>
  <cp:revision>2</cp:revision>
  <dcterms:created xsi:type="dcterms:W3CDTF">2026-06-18T14:37:42Z</dcterms:created>
  <dcterms:modified xsi:type="dcterms:W3CDTF">2026-06-18T14:49:17Z</dcterms:modified>
</cp:coreProperties>
</file>